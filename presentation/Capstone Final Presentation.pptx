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aleway"/>
      <p:regular r:id="rId21"/>
      <p:bold r:id="rId22"/>
      <p:italic r:id="rId23"/>
      <p:boldItalic r:id="rId24"/>
    </p:embeddedFont>
    <p:embeddedFont>
      <p:font typeface="Economica"/>
      <p:regular r:id="rId25"/>
      <p:bold r:id="rId26"/>
      <p:italic r:id="rId27"/>
      <p:boldItalic r:id="rId28"/>
    </p:embeddedFont>
    <p:embeddedFont>
      <p:font typeface="Lat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aleway-bold.fntdata"/><Relationship Id="rId21" Type="http://schemas.openxmlformats.org/officeDocument/2006/relationships/font" Target="fonts/Raleway-regular.fntdata"/><Relationship Id="rId24" Type="http://schemas.openxmlformats.org/officeDocument/2006/relationships/font" Target="fonts/Raleway-boldItalic.fntdata"/><Relationship Id="rId23" Type="http://schemas.openxmlformats.org/officeDocument/2006/relationships/font" Target="fonts/Raleway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Economica-bold.fntdata"/><Relationship Id="rId25" Type="http://schemas.openxmlformats.org/officeDocument/2006/relationships/font" Target="fonts/Economica-regular.fntdata"/><Relationship Id="rId28" Type="http://schemas.openxmlformats.org/officeDocument/2006/relationships/font" Target="fonts/Economica-boldItalic.fntdata"/><Relationship Id="rId27" Type="http://schemas.openxmlformats.org/officeDocument/2006/relationships/font" Target="fonts/Economic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italic.fntdata"/><Relationship Id="rId30" Type="http://schemas.openxmlformats.org/officeDocument/2006/relationships/font" Target="fonts/Lat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5f6af9dd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5f6af9d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51622d556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51622d556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d9c67055b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d9c67055b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51d9112a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51d9112a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51d23597c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51d23597c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c96f54a2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ac96f54a2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d9c67055b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d9c67055b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51d9165c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51d9165c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c96f54a2b_0_9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ac96f54a2b_0_9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ac96f54a2b_0_9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ac96f54a2b_0_9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5430e6bdd_5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5430e6bdd_5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46ee7dff8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46ee7dff8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5430e6bdd_5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5430e6bdd_5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d9c67055b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1d9c67055b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d9c67055b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1d9c67055b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729450" y="1322450"/>
            <a:ext cx="3787800" cy="19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729595" y="3401500"/>
            <a:ext cx="37878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4" name="Google Shape;14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bg>
      <p:bgPr>
        <a:solidFill>
          <a:schemeClr val="lt2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729450" y="1322450"/>
            <a:ext cx="3787800" cy="19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729595" y="3401500"/>
            <a:ext cx="37878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1" name="Google Shape;21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2" name="Google Shape;22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" name="Google Shape;24;p3"/>
          <p:cNvSpPr/>
          <p:nvPr/>
        </p:nvSpPr>
        <p:spPr>
          <a:xfrm>
            <a:off x="0" y="1"/>
            <a:ext cx="9144000" cy="46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3"/>
          <p:cNvGrpSpPr/>
          <p:nvPr/>
        </p:nvGrpSpPr>
        <p:grpSpPr>
          <a:xfrm>
            <a:off x="5063224" y="1313339"/>
            <a:ext cx="3459829" cy="2670551"/>
            <a:chOff x="3553042" y="1657806"/>
            <a:chExt cx="3461100" cy="2671532"/>
          </a:xfrm>
        </p:grpSpPr>
        <p:sp>
          <p:nvSpPr>
            <p:cNvPr id="26" name="Google Shape;26;p3"/>
            <p:cNvSpPr/>
            <p:nvPr/>
          </p:nvSpPr>
          <p:spPr>
            <a:xfrm>
              <a:off x="4856024" y="3625653"/>
              <a:ext cx="944700" cy="6633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10800000">
              <a:off x="4953871" y="3681997"/>
              <a:ext cx="400200" cy="606600"/>
            </a:xfrm>
            <a:prstGeom prst="triangle">
              <a:avLst>
                <a:gd fmla="val 96745" name="adj"/>
              </a:avLst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4767796" y="3681816"/>
              <a:ext cx="163500" cy="606600"/>
            </a:xfrm>
            <a:prstGeom prst="triangle">
              <a:avLst>
                <a:gd fmla="val 98558" name="adj"/>
              </a:avLst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10800000">
              <a:off x="4678237" y="4276102"/>
              <a:ext cx="1210800" cy="456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10800000">
              <a:off x="4668343" y="4283738"/>
              <a:ext cx="1230600" cy="45600"/>
            </a:xfrm>
            <a:prstGeom prst="roundRect">
              <a:avLst>
                <a:gd fmla="val 50000" name="adj"/>
              </a:avLst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4926950" y="3681915"/>
              <a:ext cx="42900" cy="5943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3553042" y="1674645"/>
              <a:ext cx="3461100" cy="2014500"/>
            </a:xfrm>
            <a:prstGeom prst="roundRect">
              <a:avLst>
                <a:gd fmla="val 1882" name="adj"/>
              </a:avLst>
            </a:prstGeom>
            <a:solidFill>
              <a:srgbClr val="66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3553042" y="1657806"/>
              <a:ext cx="3461100" cy="2014500"/>
            </a:xfrm>
            <a:prstGeom prst="roundRect">
              <a:avLst>
                <a:gd fmla="val 1764" name="adj"/>
              </a:avLst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Component Detail" id="34" name="Google Shape;34;p3"/>
          <p:cNvPicPr preferRelativeResize="0"/>
          <p:nvPr/>
        </p:nvPicPr>
        <p:blipFill rotWithShape="1">
          <a:blip r:embed="rId2">
            <a:alphaModFix/>
          </a:blip>
          <a:srcRect b="25076" l="0" r="0" t="0"/>
          <a:stretch/>
        </p:blipFill>
        <p:spPr>
          <a:xfrm>
            <a:off x="5161725" y="1399791"/>
            <a:ext cx="3262825" cy="18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3"/>
          <p:cNvSpPr/>
          <p:nvPr/>
        </p:nvSpPr>
        <p:spPr>
          <a:xfrm flipH="1">
            <a:off x="5156196" y="1401826"/>
            <a:ext cx="3268577" cy="1812993"/>
          </a:xfrm>
          <a:prstGeom prst="rtTriangle">
            <a:avLst/>
          </a:prstGeom>
          <a:solidFill>
            <a:srgbClr val="000000">
              <a:alpha val="30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" name="Google Shape;36;p3"/>
          <p:cNvGrpSpPr/>
          <p:nvPr/>
        </p:nvGrpSpPr>
        <p:grpSpPr>
          <a:xfrm>
            <a:off x="7666681" y="2077877"/>
            <a:ext cx="1148179" cy="2282764"/>
            <a:chOff x="7666681" y="2077877"/>
            <a:chExt cx="1148179" cy="2282764"/>
          </a:xfrm>
        </p:grpSpPr>
        <p:grpSp>
          <p:nvGrpSpPr>
            <p:cNvPr id="37" name="Google Shape;37;p3"/>
            <p:cNvGrpSpPr/>
            <p:nvPr/>
          </p:nvGrpSpPr>
          <p:grpSpPr>
            <a:xfrm>
              <a:off x="7666681" y="2077877"/>
              <a:ext cx="1148179" cy="2282764"/>
              <a:chOff x="3983627" y="1676395"/>
              <a:chExt cx="1449538" cy="2881914"/>
            </a:xfrm>
          </p:grpSpPr>
          <p:sp>
            <p:nvSpPr>
              <p:cNvPr id="38" name="Google Shape;38;p3"/>
              <p:cNvSpPr/>
              <p:nvPr/>
            </p:nvSpPr>
            <p:spPr>
              <a:xfrm rot="-5400000">
                <a:off x="3276827" y="2404608"/>
                <a:ext cx="2860500" cy="1446900"/>
              </a:xfrm>
              <a:prstGeom prst="roundRect">
                <a:avLst>
                  <a:gd fmla="val 4551" name="adj"/>
                </a:avLst>
              </a:pr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3"/>
              <p:cNvSpPr/>
              <p:nvPr/>
            </p:nvSpPr>
            <p:spPr>
              <a:xfrm rot="-5400000">
                <a:off x="3279465" y="2383195"/>
                <a:ext cx="2860500" cy="1446900"/>
              </a:xfrm>
              <a:prstGeom prst="roundRect">
                <a:avLst>
                  <a:gd fmla="val 4551" name="adj"/>
                </a:avLst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3"/>
              <p:cNvSpPr/>
              <p:nvPr/>
            </p:nvSpPr>
            <p:spPr>
              <a:xfrm>
                <a:off x="4473243" y="4318802"/>
                <a:ext cx="472800" cy="76800"/>
              </a:xfrm>
              <a:prstGeom prst="roundRect">
                <a:avLst>
                  <a:gd fmla="val 50000" name="adj"/>
                </a:avLst>
              </a:prstGeom>
              <a:solidFill>
                <a:srgbClr val="4B4B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descr="Mobile View" id="41" name="Google Shape;41;p3"/>
            <p:cNvPicPr preferRelativeResize="0"/>
            <p:nvPr/>
          </p:nvPicPr>
          <p:blipFill rotWithShape="1">
            <a:blip r:embed="rId3">
              <a:alphaModFix/>
            </a:blip>
            <a:srcRect b="4371" l="0" r="0" t="4362"/>
            <a:stretch/>
          </p:blipFill>
          <p:spPr>
            <a:xfrm>
              <a:off x="7720839" y="2222723"/>
              <a:ext cx="1037555" cy="18334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3"/>
            <p:cNvSpPr/>
            <p:nvPr/>
          </p:nvSpPr>
          <p:spPr>
            <a:xfrm flipH="1">
              <a:off x="7722342" y="2222973"/>
              <a:ext cx="1037700" cy="1833000"/>
            </a:xfrm>
            <a:prstGeom prst="rtTriangle">
              <a:avLst/>
            </a:prstGeom>
            <a:solidFill>
              <a:srgbClr val="000000">
                <a:alpha val="30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5" name="Google Shape;45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" name="Google Shape;51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2" name="Google Shape;52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" name="Google Shape;54;p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" name="Google Shape;56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" name="Google Shape;59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0" name="Google Shape;60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" name="Google Shape;62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3" name="Google Shape;63;p6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4" name="Google Shape;64;p6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5" name="Google Shape;65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" name="Google Shape;68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9" name="Google Shape;69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2" name="Google Shape;72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" name="Google Shape;78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9" name="Google Shape;79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" name="Google Shape;81;p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" name="Google Shape;82;p9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3" name="Google Shape;83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6" name="Google Shape;86;p1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1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" name="Google Shape;92;p1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3" name="Google Shape;93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1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6" name="Google Shape;96;p1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ide view of hands writing in a notebook at a cafe" id="100" name="Google Shape;100;p12"/>
          <p:cNvPicPr preferRelativeResize="0"/>
          <p:nvPr/>
        </p:nvPicPr>
        <p:blipFill rotWithShape="1">
          <a:blip r:embed="rId2">
            <a:alphaModFix/>
          </a:blip>
          <a:srcRect b="26446" l="9050" r="54351" t="12064"/>
          <a:stretch/>
        </p:blipFill>
        <p:spPr>
          <a:xfrm>
            <a:off x="1" y="-50"/>
            <a:ext cx="4572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2"/>
          <p:cNvSpPr/>
          <p:nvPr/>
        </p:nvSpPr>
        <p:spPr>
          <a:xfrm>
            <a:off x="1650" y="0"/>
            <a:ext cx="4568700" cy="5143500"/>
          </a:xfrm>
          <a:prstGeom prst="rect">
            <a:avLst/>
          </a:prstGeom>
          <a:solidFill>
            <a:srgbClr val="178D7D">
              <a:alpha val="680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" name="Google Shape;102;p1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3" name="Google Shape;103;p1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12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6" name="Google Shape;106;p12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7" name="Google Shape;107;p12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2" type="sldNum"/>
          </p:nvPr>
        </p:nvSpPr>
        <p:spPr>
          <a:xfrm>
            <a:off x="8536300" y="474985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2">
  <p:cSld name="SECTION_TITLE_AND_DESCRIPTION_1_2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0" l="31883" r="25713" t="8096"/>
          <a:stretch/>
        </p:blipFill>
        <p:spPr>
          <a:xfrm>
            <a:off x="0" y="0"/>
            <a:ext cx="45752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-75" y="0"/>
            <a:ext cx="4572000" cy="5143500"/>
          </a:xfrm>
          <a:prstGeom prst="rect">
            <a:avLst/>
          </a:prstGeom>
          <a:solidFill>
            <a:srgbClr val="178D7D">
              <a:alpha val="680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" name="Google Shape;112;p1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13" name="Google Shape;113;p1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13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8" name="Google Shape;118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21" name="Google Shape;121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15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24" name="Google Shape;124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" name="Google Shape;126;p15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7" name="Google Shape;127;p15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type="ctrTitle"/>
          </p:nvPr>
        </p:nvSpPr>
        <p:spPr>
          <a:xfrm>
            <a:off x="481800" y="1363150"/>
            <a:ext cx="3787800" cy="22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90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Valuation and Forecasting Model for Residential Properties</a:t>
            </a:r>
            <a:endParaRPr sz="3700"/>
          </a:p>
        </p:txBody>
      </p:sp>
      <p:sp>
        <p:nvSpPr>
          <p:cNvPr id="136" name="Google Shape;136;p17"/>
          <p:cNvSpPr txBox="1"/>
          <p:nvPr>
            <p:ph idx="1" type="subTitle"/>
          </p:nvPr>
        </p:nvSpPr>
        <p:spPr>
          <a:xfrm>
            <a:off x="382575" y="3441100"/>
            <a:ext cx="3787800" cy="14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                        Ujjawal Dwivedi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		Capstone Presentation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		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		Supervised by : Dr Amir Jafari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37" name="Google Shape;137;p17" title="istockphoto-1987630154-612x61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4325" y="514350"/>
            <a:ext cx="2969675" cy="252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 txBox="1"/>
          <p:nvPr>
            <p:ph type="title"/>
          </p:nvPr>
        </p:nvSpPr>
        <p:spPr>
          <a:xfrm>
            <a:off x="538950" y="1341500"/>
            <a:ext cx="28599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53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Agenda</a:t>
            </a:r>
            <a:endParaRPr i="1" sz="5300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3" name="Google Shape;143;p18"/>
          <p:cNvSpPr txBox="1"/>
          <p:nvPr>
            <p:ph idx="4294967295" type="subTitle"/>
          </p:nvPr>
        </p:nvSpPr>
        <p:spPr>
          <a:xfrm>
            <a:off x="3952425" y="123750"/>
            <a:ext cx="4715400" cy="48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mbria"/>
              <a:buChar char="●"/>
            </a:pPr>
            <a:r>
              <a:rPr lang="en" sz="16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The Disconnect in Spatiotemporal Valuation</a:t>
            </a:r>
            <a:endParaRPr sz="1600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mbria"/>
              <a:buChar char="●"/>
            </a:pPr>
            <a:r>
              <a:rPr lang="en" sz="16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Component I: Micro-Valuation (LME)</a:t>
            </a:r>
            <a:endParaRPr sz="1600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mbria"/>
              <a:buChar char="●"/>
            </a:pPr>
            <a:r>
              <a:rPr lang="en" sz="16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Component II: Macro-Forecasting</a:t>
            </a:r>
            <a:endParaRPr sz="1600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mbria"/>
              <a:buChar char="●"/>
            </a:pPr>
            <a:r>
              <a:rPr lang="en" sz="16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Robust Evaluation &amp; Key Results</a:t>
            </a:r>
            <a:endParaRPr sz="1600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mbria"/>
              <a:buChar char="●"/>
            </a:pPr>
            <a:r>
              <a:rPr lang="en" sz="16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Business Impact &amp; Blueprint</a:t>
            </a:r>
            <a:endParaRPr sz="1600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/>
          <p:nvPr>
            <p:ph type="title"/>
          </p:nvPr>
        </p:nvSpPr>
        <p:spPr>
          <a:xfrm>
            <a:off x="727800" y="1447800"/>
            <a:ext cx="7688400" cy="28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current real estate valuation systems are fragmented, failing to simultaneously integrate Macro-level market momentum with Micro-level local property desirability. This gap leads to inaccurate pricing and undefined risk ranges for institutional investors.</a:t>
            </a:r>
            <a:endParaRPr b="0" sz="4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/>
          <p:nvPr>
            <p:ph type="title"/>
          </p:nvPr>
        </p:nvSpPr>
        <p:spPr>
          <a:xfrm>
            <a:off x="730000" y="1318650"/>
            <a:ext cx="3300900" cy="23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A Two Component Framework </a:t>
            </a:r>
            <a:endParaRPr sz="4500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4" name="Google Shape;154;p20"/>
          <p:cNvSpPr txBox="1"/>
          <p:nvPr>
            <p:ph idx="2" type="body"/>
          </p:nvPr>
        </p:nvSpPr>
        <p:spPr>
          <a:xfrm>
            <a:off x="5107550" y="38175"/>
            <a:ext cx="3374400" cy="51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Market Engine:</a:t>
            </a:r>
            <a:endParaRPr b="1"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mbria"/>
              <a:buAutoNum type="arabicPeriod"/>
            </a:pPr>
            <a:r>
              <a:rPr b="1" lang="en" sz="16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Predicts the future market trajectory and risk</a:t>
            </a:r>
            <a:endParaRPr b="1" sz="1600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mbria"/>
              <a:buAutoNum type="arabicPeriod"/>
            </a:pPr>
            <a:r>
              <a:rPr b="1" lang="en" sz="16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Addresses market fragmentation and lacks of risk quantification.</a:t>
            </a:r>
            <a:endParaRPr b="1" sz="1600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Property Engine</a:t>
            </a:r>
            <a:r>
              <a:rPr b="1"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:</a:t>
            </a:r>
            <a:endParaRPr b="1"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mbria"/>
              <a:buAutoNum type="arabicPeriod"/>
            </a:pPr>
            <a:r>
              <a:rPr b="1" lang="en" sz="16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Calculates individual property's intrinsic and latent value.</a:t>
            </a:r>
            <a:endParaRPr b="1" sz="1600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mbria"/>
              <a:buAutoNum type="arabicPeriod"/>
            </a:pPr>
            <a:r>
              <a:rPr b="1" lang="en" sz="16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Addresses inadequate neighborhood adjustments and spatial fragmentation.</a:t>
            </a:r>
            <a:endParaRPr b="1" sz="1600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 txBox="1"/>
          <p:nvPr>
            <p:ph type="title"/>
          </p:nvPr>
        </p:nvSpPr>
        <p:spPr>
          <a:xfrm>
            <a:off x="234700" y="1528050"/>
            <a:ext cx="3956400" cy="10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Market Engine</a:t>
            </a:r>
            <a:endParaRPr sz="4300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160" name="Google Shape;160;p21"/>
          <p:cNvSpPr txBox="1"/>
          <p:nvPr>
            <p:ph idx="2" type="body"/>
          </p:nvPr>
        </p:nvSpPr>
        <p:spPr>
          <a:xfrm>
            <a:off x="4572000" y="0"/>
            <a:ext cx="45720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Probabilistic ZIP-level price forecasts (1–2 months ahead)</a:t>
            </a:r>
            <a:endParaRPr b="1"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We build a ZIP×month price index and train a multi-task tabular neural network that forecasts the </a:t>
            </a:r>
            <a:r>
              <a:rPr b="1" lang="en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distribution</a:t>
            </a:r>
            <a:r>
              <a:rPr lang="en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of future price moves, not just a single point estimate.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mbria"/>
              <a:buChar char="●"/>
            </a:pPr>
            <a:r>
              <a:rPr b="1"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Log-return targets (what we forecast):</a:t>
            </a:r>
            <a:endParaRPr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            Rz,t(h)​=log(1+Pz,t(h)​)−log(1+Pz,t​),h∈{1,</a:t>
            </a:r>
            <a:r>
              <a:rPr b="1" i="1" lang="en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2}</a:t>
            </a:r>
            <a:endParaRPr b="1" i="1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Where:  </a:t>
            </a:r>
            <a:r>
              <a:rPr lang="en">
                <a:latin typeface="Cambria"/>
                <a:ea typeface="Cambria"/>
                <a:cs typeface="Cambria"/>
                <a:sym typeface="Cambria"/>
              </a:rPr>
              <a:t>Pz,t(1)=Pz,t+1Pz,t(1)​=Pz,t+1​ and                Pz,t(2)=Pz,t+2Pz,t(2)​=Pz,t+2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mbria"/>
              <a:buChar char="●"/>
            </a:pPr>
            <a:r>
              <a:rPr b="1"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Model mapping (what the network does):</a:t>
            </a:r>
            <a:endParaRPr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        </a:t>
            </a:r>
            <a:r>
              <a:rPr b="1" lang="en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 fθ​(xz,t​)→{Q^​τ(1)​(z,t),Q^​τ(2)​(z,t)}τ∈{0.1,0.5,0.9}​</a:t>
            </a:r>
            <a:endParaRPr b="1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mbria"/>
              <a:buChar char="●"/>
            </a:pPr>
            <a:r>
              <a:rPr b="1"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Hierarchical pooled index : </a:t>
            </a:r>
            <a:endParaRPr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Pz,t​=coalesce(Pz,traw​,Pc(z),tcty​,Ps(z),tst​)</a:t>
            </a:r>
            <a:endParaRPr b="1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/>
          <p:nvPr>
            <p:ph type="title"/>
          </p:nvPr>
        </p:nvSpPr>
        <p:spPr>
          <a:xfrm>
            <a:off x="257175" y="1318650"/>
            <a:ext cx="3914700" cy="17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Structural Design of Market Engine </a:t>
            </a:r>
            <a:endParaRPr i="1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6" name="Google Shape;166;p22"/>
          <p:cNvSpPr txBox="1"/>
          <p:nvPr>
            <p:ph idx="1" type="subTitle"/>
          </p:nvPr>
        </p:nvSpPr>
        <p:spPr>
          <a:xfrm>
            <a:off x="411075" y="3152000"/>
            <a:ext cx="3606900" cy="9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It is a multi-dependant system interconnecting various modules which can be seen in the codebase.</a:t>
            </a:r>
            <a:endParaRPr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7" name="Google Shape;167;p22"/>
          <p:cNvSpPr txBox="1"/>
          <p:nvPr>
            <p:ph idx="2" type="body"/>
          </p:nvPr>
        </p:nvSpPr>
        <p:spPr>
          <a:xfrm>
            <a:off x="4572000" y="0"/>
            <a:ext cx="45720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8176" y="0"/>
            <a:ext cx="4695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3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700">
                <a:solidFill>
                  <a:schemeClr val="lt1"/>
                </a:solidFill>
              </a:rPr>
              <a:t>1</a:t>
            </a:r>
            <a:endParaRPr b="1" sz="700">
              <a:solidFill>
                <a:schemeClr val="lt1"/>
              </a:solidFill>
            </a:endParaRPr>
          </a:p>
        </p:txBody>
      </p:sp>
      <p:sp>
        <p:nvSpPr>
          <p:cNvPr id="174" name="Google Shape;174;p23"/>
          <p:cNvSpPr txBox="1"/>
          <p:nvPr>
            <p:ph type="title"/>
          </p:nvPr>
        </p:nvSpPr>
        <p:spPr>
          <a:xfrm>
            <a:off x="114300" y="1266825"/>
            <a:ext cx="4286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600">
                <a:latin typeface="Cambria"/>
                <a:ea typeface="Cambria"/>
                <a:cs typeface="Cambria"/>
                <a:sym typeface="Cambria"/>
              </a:rPr>
              <a:t>“Supporting information and evidence”</a:t>
            </a:r>
            <a:endParaRPr b="0" i="1" sz="2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5" name="Google Shape;175;p23"/>
          <p:cNvSpPr txBox="1"/>
          <p:nvPr>
            <p:ph idx="1" type="subTitle"/>
          </p:nvPr>
        </p:nvSpPr>
        <p:spPr>
          <a:xfrm>
            <a:off x="0" y="2286000"/>
            <a:ext cx="4572000" cy="28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Low error on holdout</a:t>
            </a:r>
            <a:r>
              <a:rPr b="1" lang="en" sz="1100"/>
              <a:t> </a:t>
            </a:r>
            <a:r>
              <a:rPr lang="en" sz="1300"/>
              <a:t>: </a:t>
            </a:r>
            <a:r>
              <a:rPr lang="en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MAE is ≈ </a:t>
            </a:r>
            <a:r>
              <a:rPr b="1" lang="en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$31–32</a:t>
            </a:r>
            <a:r>
              <a:rPr lang="en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for both 1-month (H1) and 2-month (H2) horizons.</a:t>
            </a:r>
            <a:endParaRPr sz="11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Stress-tested over time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In rolling windows that span different market regimes, MAE stays in the </a:t>
            </a:r>
            <a:r>
              <a:rPr b="1" lang="en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$40–55</a:t>
            </a:r>
            <a:r>
              <a:rPr lang="en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range, showing the model doesn’t break when the market shifts.</a:t>
            </a:r>
            <a:endParaRPr sz="11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Actionable accuracy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Errors of ~$30–40 at the ZIP×month level are small relative to median home prices, making these forecasts usable for pricing, budgeting, and risk planning.</a:t>
            </a:r>
            <a:endParaRPr sz="11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76" name="Google Shape;176;p23" title="fig_mae_b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0"/>
            <a:ext cx="457200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4"/>
          <p:cNvSpPr txBox="1"/>
          <p:nvPr>
            <p:ph type="title"/>
          </p:nvPr>
        </p:nvSpPr>
        <p:spPr>
          <a:xfrm>
            <a:off x="0" y="1318650"/>
            <a:ext cx="4486500" cy="17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600">
                <a:latin typeface="Cambria"/>
                <a:ea typeface="Cambria"/>
                <a:cs typeface="Cambria"/>
                <a:sym typeface="Cambria"/>
              </a:rPr>
              <a:t>Applying the Market Engine to a New Dataset: County &amp; ZIP Results</a:t>
            </a:r>
            <a:endParaRPr i="1" sz="2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2" name="Google Shape;182;p24"/>
          <p:cNvSpPr txBox="1"/>
          <p:nvPr>
            <p:ph idx="1" type="subTitle"/>
          </p:nvPr>
        </p:nvSpPr>
        <p:spPr>
          <a:xfrm>
            <a:off x="0" y="2771850"/>
            <a:ext cx="4572000" cy="15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1300">
                <a:latin typeface="Cambria"/>
                <a:ea typeface="Cambria"/>
                <a:cs typeface="Cambria"/>
                <a:sym typeface="Cambria"/>
              </a:rPr>
              <a:t>Inference of our market engine on a separate builder dataset, with accuracy reported at county and ZIP level.</a:t>
            </a:r>
            <a:endParaRPr b="1" sz="13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83" name="Google Shape;18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0"/>
            <a:ext cx="4453751" cy="23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3100" y="2304975"/>
            <a:ext cx="4486499" cy="283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 txBox="1"/>
          <p:nvPr>
            <p:ph type="title"/>
          </p:nvPr>
        </p:nvSpPr>
        <p:spPr>
          <a:xfrm>
            <a:off x="123825" y="1314450"/>
            <a:ext cx="4229100" cy="10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Property Engine: Latent Manifold Estimation </a:t>
            </a:r>
            <a:r>
              <a:rPr b="0" lang="en" sz="28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endParaRPr b="0" sz="2800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0" name="Google Shape;190;p25"/>
          <p:cNvSpPr txBox="1"/>
          <p:nvPr>
            <p:ph idx="2" type="body"/>
          </p:nvPr>
        </p:nvSpPr>
        <p:spPr>
          <a:xfrm>
            <a:off x="4572000" y="0"/>
            <a:ext cx="45720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Decomposes each home’s log price into:</a:t>
            </a:r>
            <a:endParaRPr b="1"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Intrinsic value</a:t>
            </a:r>
            <a:r>
              <a:rPr lang="en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from tabular attributes (beds, baths, sqft, year built, etc.)</a:t>
            </a:r>
            <a:endParaRPr sz="11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 smooth </a:t>
            </a:r>
            <a:r>
              <a:rPr b="1" lang="en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neighborhood desirability field</a:t>
            </a:r>
            <a:r>
              <a:rPr lang="en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over latitude/longitude.</a:t>
            </a:r>
            <a:endParaRPr sz="11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mbria"/>
              <a:buChar char="●"/>
            </a:pPr>
            <a:r>
              <a:rPr lang="en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Mimics how an appraiser works: start with structure-driven value, then adjust up/down for the micro-location.</a:t>
            </a:r>
            <a:endParaRPr sz="11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mbria"/>
              <a:buChar char="●"/>
            </a:pPr>
            <a:r>
              <a:rPr lang="en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Provides </a:t>
            </a:r>
            <a:r>
              <a:rPr b="1" lang="en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house-specific premiums/discounts</a:t>
            </a:r>
            <a:r>
              <a:rPr lang="en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relative to the local market and the ZIP forecast from the Market Engine.</a:t>
            </a:r>
            <a:endParaRPr sz="11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Core Equation &amp; Geometry</a:t>
            </a:r>
            <a:endParaRPr b="1"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Modelling each home :</a:t>
            </a:r>
            <a:endParaRPr b="1"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91" name="Google Shape;19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3162300"/>
            <a:ext cx="457200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3924300"/>
            <a:ext cx="4572001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 txBox="1"/>
          <p:nvPr>
            <p:ph type="title"/>
          </p:nvPr>
        </p:nvSpPr>
        <p:spPr>
          <a:xfrm>
            <a:off x="0" y="129960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Structural Design of Property Engine </a:t>
            </a:r>
            <a:endParaRPr/>
          </a:p>
        </p:txBody>
      </p:sp>
      <p:sp>
        <p:nvSpPr>
          <p:cNvPr id="198" name="Google Shape;198;p26"/>
          <p:cNvSpPr txBox="1"/>
          <p:nvPr>
            <p:ph idx="1" type="subTitle"/>
          </p:nvPr>
        </p:nvSpPr>
        <p:spPr>
          <a:xfrm>
            <a:off x="58200" y="3132950"/>
            <a:ext cx="3627900" cy="11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It is a multi-dependant system interconnecting various modules which can be seen in the codebase.</a:t>
            </a:r>
            <a:endParaRPr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6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00" name="Google Shape;20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9550" y="0"/>
            <a:ext cx="512444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 txBox="1"/>
          <p:nvPr>
            <p:ph type="title"/>
          </p:nvPr>
        </p:nvSpPr>
        <p:spPr>
          <a:xfrm>
            <a:off x="57150" y="1318650"/>
            <a:ext cx="3905400" cy="10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600">
                <a:latin typeface="Cambria"/>
                <a:ea typeface="Cambria"/>
                <a:cs typeface="Cambria"/>
                <a:sym typeface="Cambria"/>
              </a:rPr>
              <a:t>“Supporting information and evidence”</a:t>
            </a:r>
            <a:endParaRPr sz="3000"/>
          </a:p>
        </p:txBody>
      </p:sp>
      <p:sp>
        <p:nvSpPr>
          <p:cNvPr id="206" name="Google Shape;206;p27"/>
          <p:cNvSpPr txBox="1"/>
          <p:nvPr>
            <p:ph idx="1" type="subTitle"/>
          </p:nvPr>
        </p:nvSpPr>
        <p:spPr>
          <a:xfrm>
            <a:off x="0" y="2324100"/>
            <a:ext cx="4438800" cy="27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Current implementation accuracy:</a:t>
            </a:r>
            <a:r>
              <a:rPr lang="en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On our spatial test split,</a:t>
            </a:r>
            <a:endParaRPr sz="11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18.1%</a:t>
            </a:r>
            <a:r>
              <a:rPr lang="en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of homes are within </a:t>
            </a:r>
            <a:r>
              <a:rPr b="1" lang="en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5%</a:t>
            </a:r>
            <a:r>
              <a:rPr lang="en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price error,</a:t>
            </a:r>
            <a:endParaRPr sz="11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35.45%</a:t>
            </a:r>
            <a:r>
              <a:rPr lang="en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within </a:t>
            </a:r>
            <a:r>
              <a:rPr b="1" lang="en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10%</a:t>
            </a:r>
            <a:r>
              <a:rPr lang="en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,</a:t>
            </a:r>
            <a:endParaRPr sz="11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50.62%</a:t>
            </a:r>
            <a:r>
              <a:rPr lang="en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within </a:t>
            </a:r>
            <a:r>
              <a:rPr b="1" lang="en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15%</a:t>
            </a:r>
            <a:r>
              <a:rPr lang="en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,</a:t>
            </a:r>
            <a:br>
              <a:rPr lang="en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with </a:t>
            </a:r>
            <a:r>
              <a:rPr b="1" lang="en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median AbsRel ≈ 0.148</a:t>
            </a:r>
            <a:r>
              <a:rPr lang="en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 The corresponding train metrics are 25.54%, 49.10%, 67.54% and median AbsRel 0.1022.</a:t>
            </a:r>
            <a:endParaRPr sz="11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207" name="Google Shape;207;p27"/>
          <p:cNvSpPr txBox="1"/>
          <p:nvPr/>
        </p:nvSpPr>
        <p:spPr>
          <a:xfrm>
            <a:off x="5207600" y="3521563"/>
            <a:ext cx="33009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8" name="Google Shape;20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75" y="0"/>
            <a:ext cx="4572150" cy="199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7" title="mstep_losse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75" y="1990725"/>
            <a:ext cx="4572151" cy="315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➔"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8"/>
          <p:cNvSpPr txBox="1"/>
          <p:nvPr>
            <p:ph type="title"/>
          </p:nvPr>
        </p:nvSpPr>
        <p:spPr>
          <a:xfrm>
            <a:off x="653250" y="509025"/>
            <a:ext cx="7688700" cy="5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Cambria"/>
                <a:ea typeface="Cambria"/>
                <a:cs typeface="Cambria"/>
                <a:sym typeface="Cambria"/>
              </a:rPr>
              <a:t>Desirability </a:t>
            </a:r>
            <a:r>
              <a:rPr lang="en" sz="2500">
                <a:latin typeface="Cambria"/>
                <a:ea typeface="Cambria"/>
                <a:cs typeface="Cambria"/>
                <a:sym typeface="Cambria"/>
              </a:rPr>
              <a:t>learned by Property engine</a:t>
            </a:r>
            <a:endParaRPr sz="25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16" name="Google Shape;216;p28" title="desirabilit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" y="1304925"/>
            <a:ext cx="9029701" cy="383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9"/>
          <p:cNvSpPr txBox="1"/>
          <p:nvPr>
            <p:ph type="title"/>
          </p:nvPr>
        </p:nvSpPr>
        <p:spPr>
          <a:xfrm>
            <a:off x="729450" y="864300"/>
            <a:ext cx="7021200" cy="6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End-to-end system:</a:t>
            </a:r>
            <a:endParaRPr b="0"/>
          </a:p>
        </p:txBody>
      </p:sp>
      <p:sp>
        <p:nvSpPr>
          <p:cNvPr id="222" name="Google Shape;222;p29"/>
          <p:cNvSpPr txBox="1"/>
          <p:nvPr>
            <p:ph type="title"/>
          </p:nvPr>
        </p:nvSpPr>
        <p:spPr>
          <a:xfrm>
            <a:off x="729450" y="1538400"/>
            <a:ext cx="7021200" cy="25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mbria"/>
                <a:ea typeface="Cambria"/>
                <a:cs typeface="Cambria"/>
                <a:sym typeface="Cambria"/>
              </a:rPr>
              <a:t>Market layer:</a:t>
            </a:r>
            <a:r>
              <a:rPr b="0" lang="en" sz="1200">
                <a:latin typeface="Cambria"/>
                <a:ea typeface="Cambria"/>
                <a:cs typeface="Cambria"/>
                <a:sym typeface="Cambria"/>
              </a:rPr>
              <a:t> The Market Engine produces </a:t>
            </a:r>
            <a:r>
              <a:rPr lang="en" sz="1200">
                <a:latin typeface="Cambria"/>
                <a:ea typeface="Cambria"/>
                <a:cs typeface="Cambria"/>
                <a:sym typeface="Cambria"/>
              </a:rPr>
              <a:t>probabilistic ZIP×Month indices</a:t>
            </a:r>
            <a:r>
              <a:rPr b="0" lang="en" sz="1200">
                <a:latin typeface="Cambria"/>
                <a:ea typeface="Cambria"/>
                <a:cs typeface="Cambria"/>
                <a:sym typeface="Cambria"/>
              </a:rPr>
              <a:t> 1–2 months ahead, with downside/upside bands for each geography.</a:t>
            </a:r>
            <a:endParaRPr b="0" sz="12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mbria"/>
                <a:ea typeface="Cambria"/>
                <a:cs typeface="Cambria"/>
                <a:sym typeface="Cambria"/>
              </a:rPr>
              <a:t>Property layer:</a:t>
            </a:r>
            <a:r>
              <a:rPr b="0" lang="en" sz="1200">
                <a:latin typeface="Cambria"/>
                <a:ea typeface="Cambria"/>
                <a:cs typeface="Cambria"/>
                <a:sym typeface="Cambria"/>
              </a:rPr>
              <a:t> The Property Engine takes these market indices as context and adds </a:t>
            </a:r>
            <a:r>
              <a:rPr lang="en" sz="1200">
                <a:latin typeface="Cambria"/>
                <a:ea typeface="Cambria"/>
                <a:cs typeface="Cambria"/>
                <a:sym typeface="Cambria"/>
              </a:rPr>
              <a:t>home-specific intrinsic value and neighborhood desirability</a:t>
            </a:r>
            <a:r>
              <a:rPr b="0" lang="en" sz="1200">
                <a:latin typeface="Cambria"/>
                <a:ea typeface="Cambria"/>
                <a:cs typeface="Cambria"/>
                <a:sym typeface="Cambria"/>
              </a:rPr>
              <a:t>, producing a full price distribution for each address.</a:t>
            </a:r>
            <a:endParaRPr b="0" sz="12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mbria"/>
                <a:ea typeface="Cambria"/>
                <a:cs typeface="Cambria"/>
                <a:sym typeface="Cambria"/>
              </a:rPr>
              <a:t>Decision layer:</a:t>
            </a:r>
            <a:r>
              <a:rPr b="0" lang="en" sz="1200">
                <a:latin typeface="Cambria"/>
                <a:ea typeface="Cambria"/>
                <a:cs typeface="Cambria"/>
                <a:sym typeface="Cambria"/>
              </a:rPr>
              <a:t> On top of these outputs we can build tools for </a:t>
            </a:r>
            <a:r>
              <a:rPr lang="en" sz="1200">
                <a:latin typeface="Cambria"/>
                <a:ea typeface="Cambria"/>
                <a:cs typeface="Cambria"/>
                <a:sym typeface="Cambria"/>
              </a:rPr>
              <a:t>land acquisition, release timing, list-price recommendations, and portfolio risk dashboards</a:t>
            </a:r>
            <a:r>
              <a:rPr b="0" lang="en" sz="1200">
                <a:latin typeface="Cambria"/>
                <a:ea typeface="Cambria"/>
                <a:cs typeface="Cambria"/>
                <a:sym typeface="Cambria"/>
              </a:rPr>
              <a:t> (e.g., which ZIPs or projects are over-exposed).</a:t>
            </a:r>
            <a:endParaRPr b="0" sz="12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mbria"/>
                <a:ea typeface="Cambria"/>
                <a:cs typeface="Cambria"/>
                <a:sym typeface="Cambria"/>
              </a:rPr>
              <a:t>Feedback loop:</a:t>
            </a:r>
            <a:r>
              <a:rPr b="0" lang="en" sz="1200">
                <a:latin typeface="Cambria"/>
                <a:ea typeface="Cambria"/>
                <a:cs typeface="Cambria"/>
                <a:sym typeface="Cambria"/>
              </a:rPr>
              <a:t> As new transactions come in, the system </a:t>
            </a:r>
            <a:r>
              <a:rPr lang="en" sz="1200">
                <a:latin typeface="Cambria"/>
                <a:ea typeface="Cambria"/>
                <a:cs typeface="Cambria"/>
                <a:sym typeface="Cambria"/>
              </a:rPr>
              <a:t>re-trains both engines</a:t>
            </a:r>
            <a:r>
              <a:rPr b="0" lang="en" sz="1200">
                <a:latin typeface="Cambria"/>
                <a:ea typeface="Cambria"/>
                <a:cs typeface="Cambria"/>
                <a:sym typeface="Cambria"/>
              </a:rPr>
              <a:t>, tightening forecasts and updating neighborhood premiums in near real time.</a:t>
            </a:r>
            <a:endParaRPr b="0" sz="1200"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type="title"/>
          </p:nvPr>
        </p:nvSpPr>
        <p:spPr>
          <a:xfrm>
            <a:off x="266700" y="1322450"/>
            <a:ext cx="8753700" cy="30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View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latin typeface="Cambria"/>
                <a:ea typeface="Cambria"/>
                <a:cs typeface="Cambria"/>
                <a:sym typeface="Cambria"/>
              </a:rPr>
              <a:t>Together, the two engines become a reusable “Neural estimate” platform for the builder: one model family owns </a:t>
            </a:r>
            <a:r>
              <a:rPr lang="en" sz="1600">
                <a:latin typeface="Cambria"/>
                <a:ea typeface="Cambria"/>
                <a:cs typeface="Cambria"/>
                <a:sym typeface="Cambria"/>
              </a:rPr>
              <a:t>market trajectory and risk</a:t>
            </a:r>
            <a:r>
              <a:rPr b="0" lang="en" sz="1600">
                <a:latin typeface="Cambria"/>
                <a:ea typeface="Cambria"/>
                <a:cs typeface="Cambria"/>
                <a:sym typeface="Cambria"/>
              </a:rPr>
              <a:t>, the other owns </a:t>
            </a:r>
            <a:r>
              <a:rPr lang="en" sz="1600">
                <a:latin typeface="Cambria"/>
                <a:ea typeface="Cambria"/>
                <a:cs typeface="Cambria"/>
                <a:sym typeface="Cambria"/>
              </a:rPr>
              <a:t>micro-location and product-level pricing</a:t>
            </a:r>
            <a:r>
              <a:rPr b="0" lang="en" sz="1600">
                <a:latin typeface="Cambria"/>
                <a:ea typeface="Cambria"/>
                <a:cs typeface="Cambria"/>
                <a:sym typeface="Cambria"/>
              </a:rPr>
              <a:t>, and both plug directly into existing budgeting, underwriting, and sales workflows.</a:t>
            </a:r>
            <a:endParaRPr sz="35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1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