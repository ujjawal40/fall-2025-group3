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Roboto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c37db1603_0_1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c37db1603_0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c37db1603_0_1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c37db1603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c37db1603_0_1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c37db1603_0_1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c37db1603_0_1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c37db1603_0_1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c37db1603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c37db1603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c37db1603_0_1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c37db1603_0_1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c37db1603_0_1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c37db1603_0_1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c6f90357f_0_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c6f90357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notebooklm.google.com/notebook/d05782f7-af6f-4af0-8297-7088d9c259eb" TargetMode="External"/><Relationship Id="rId4" Type="http://schemas.openxmlformats.org/officeDocument/2006/relationships/hyperlink" Target="https://notebooklm.google.com/notebook/e9198240-3983-4955-b965-92e16f7a107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54725"/>
            <a:ext cx="3054600" cy="248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and Forecasting Model for Residential Properties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4801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Ujjawal Dwivedi</a:t>
            </a:r>
            <a:endParaRPr/>
          </a:p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0" y="0"/>
            <a:ext cx="5855700" cy="3642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700">
                <a:latin typeface="Cambria"/>
                <a:ea typeface="Cambria"/>
                <a:cs typeface="Cambria"/>
                <a:sym typeface="Cambria"/>
              </a:rPr>
              <a:t>How do neighborhood signals and national indicators jointly move market prices, changing whether a home’s feature-adjusted value trades quickly or requires price cuts?</a:t>
            </a:r>
            <a:endParaRPr sz="27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70" name="Google Shape;70;p14" title="istockphoto-1987630154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325" y="0"/>
            <a:ext cx="2969675" cy="25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105550"/>
            <a:ext cx="8520600" cy="6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                                              </a:t>
            </a:r>
            <a:r>
              <a:rPr lang="en" sz="3844"/>
              <a:t> THE AVA</a:t>
            </a:r>
            <a:endParaRPr sz="3955"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78550" y="954700"/>
            <a:ext cx="8641500" cy="40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Adaptive Valuation Algorithm (AVA)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— a spatiotemporal pricing engine that learns neighborhood and national market dynamics to estimate fair, explainable home values in real time.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AVA fuses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property attributes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(beds, baths, sqft, age),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neighborhood signals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(schools, comps, walkability, inventory), and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macro indicators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(mortgage rates, unemployment) into a ZIP×month market index, then prices each home by its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feature-adjusted position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relative to that evolving “waterline.”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Built with leakage-safe time keys,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monotone-constrained GBDTs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+ a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regularized hedonic head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AVA delivers stable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OOT MAPE/RMSE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calibrated tails (quantile loss optional), and SHAP-based transparency for decision support</a:t>
            </a:r>
            <a:endParaRPr sz="2300"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530400" y="120175"/>
            <a:ext cx="3230400" cy="21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Components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4" name="Google Shape;84;p16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The AVA has been built using neural networks and classical machine </a:t>
            </a:r>
            <a:r>
              <a:rPr lang="en">
                <a:latin typeface="Cambria"/>
                <a:ea typeface="Cambria"/>
                <a:cs typeface="Cambria"/>
                <a:sym typeface="Cambria"/>
              </a:rPr>
              <a:t>learning models.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6"/>
          <p:cNvSpPr txBox="1"/>
          <p:nvPr>
            <p:ph idx="2" type="body"/>
          </p:nvPr>
        </p:nvSpPr>
        <p:spPr>
          <a:xfrm>
            <a:off x="4879625" y="487975"/>
            <a:ext cx="3897000" cy="427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Latent Manifold Model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ZIP/Month + hedonic Model</a:t>
            </a:r>
            <a:endParaRPr sz="2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cxnSp>
        <p:nvCxnSpPr>
          <p:cNvPr id="92" name="Google Shape;92;p17"/>
          <p:cNvCxnSpPr>
            <a:stCxn id="93" idx="2"/>
            <a:endCxn id="94" idx="0"/>
          </p:cNvCxnSpPr>
          <p:nvPr/>
        </p:nvCxnSpPr>
        <p:spPr>
          <a:xfrm flipH="1" rot="-5400000">
            <a:off x="5184925" y="1054075"/>
            <a:ext cx="574500" cy="17400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561561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95" name="Google Shape;95;p17"/>
          <p:cNvCxnSpPr>
            <a:stCxn id="96" idx="2"/>
            <a:endCxn id="97" idx="0"/>
          </p:cNvCxnSpPr>
          <p:nvPr/>
        </p:nvCxnSpPr>
        <p:spPr>
          <a:xfrm flipH="1" rot="-5400000">
            <a:off x="2868900" y="2728463"/>
            <a:ext cx="711000" cy="84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98" name="Google Shape;98;p17"/>
          <p:cNvCxnSpPr>
            <a:stCxn id="99" idx="0"/>
            <a:endCxn id="96" idx="2"/>
          </p:cNvCxnSpPr>
          <p:nvPr/>
        </p:nvCxnSpPr>
        <p:spPr>
          <a:xfrm rot="-5400000">
            <a:off x="2023650" y="2728463"/>
            <a:ext cx="711000" cy="84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00" name="Google Shape;100;p17"/>
          <p:cNvCxnSpPr>
            <a:stCxn id="94" idx="2"/>
            <a:endCxn id="101" idx="0"/>
          </p:cNvCxnSpPr>
          <p:nvPr/>
        </p:nvCxnSpPr>
        <p:spPr>
          <a:xfrm flipH="1" rot="-5400000">
            <a:off x="6409500" y="2728463"/>
            <a:ext cx="711000" cy="84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02" name="Google Shape;102;p17"/>
          <p:cNvCxnSpPr>
            <a:stCxn id="103" idx="0"/>
            <a:endCxn id="94" idx="2"/>
          </p:cNvCxnSpPr>
          <p:nvPr/>
        </p:nvCxnSpPr>
        <p:spPr>
          <a:xfrm rot="-5400000">
            <a:off x="5564250" y="2728463"/>
            <a:ext cx="711000" cy="84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701C7F"/>
            </a:solidFill>
            <a:prstDash val="solid"/>
            <a:round/>
            <a:headEnd len="med" w="med" type="diamond"/>
            <a:tailEnd len="med" w="med" type="diamond"/>
          </a:ln>
        </p:spPr>
      </p:cxnSp>
      <p:cxnSp>
        <p:nvCxnSpPr>
          <p:cNvPr id="104" name="Google Shape;104;p17"/>
          <p:cNvCxnSpPr>
            <a:stCxn id="96" idx="0"/>
            <a:endCxn id="93" idx="2"/>
          </p:cNvCxnSpPr>
          <p:nvPr/>
        </p:nvCxnSpPr>
        <p:spPr>
          <a:xfrm rot="-5400000">
            <a:off x="3414750" y="1023713"/>
            <a:ext cx="574500" cy="1800600"/>
          </a:xfrm>
          <a:prstGeom prst="bentConnector3">
            <a:avLst>
              <a:gd fmla="val 49995" name="adj1"/>
            </a:avLst>
          </a:prstGeom>
          <a:noFill/>
          <a:ln cap="flat" cmpd="sng" w="9525">
            <a:solidFill>
              <a:srgbClr val="56156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93" name="Google Shape;93;p17"/>
          <p:cNvSpPr txBox="1"/>
          <p:nvPr/>
        </p:nvSpPr>
        <p:spPr>
          <a:xfrm>
            <a:off x="3707275" y="925825"/>
            <a:ext cx="1789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Adaptive Valuation Algorithm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032650" y="221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Latent Manifold Model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5573250" y="22112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Zip/based Hedonic Model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418500" y="35066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Momentum</a:t>
            </a: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 and Liquidity feature pack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4728000" y="35066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Robust XGBoost-Huber Ensemble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2877900" y="35066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Energy based Learning 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1187400" y="3506663"/>
            <a:ext cx="15381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Dual </a:t>
            </a: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Architecture</a:t>
            </a:r>
            <a:r>
              <a:rPr lang="en" sz="1000">
                <a:solidFill>
                  <a:srgbClr val="701C7F"/>
                </a:solidFill>
                <a:latin typeface="Roboto"/>
                <a:ea typeface="Roboto"/>
                <a:cs typeface="Roboto"/>
                <a:sym typeface="Roboto"/>
              </a:rPr>
              <a:t> with a latent structure</a:t>
            </a:r>
            <a:endParaRPr sz="1000">
              <a:solidFill>
                <a:srgbClr val="701C7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2287875" y="242800"/>
            <a:ext cx="459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93400" y="4302450"/>
            <a:ext cx="60807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LME structure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Hedonic structure</a:t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8"/>
          <p:cNvSpPr txBox="1"/>
          <p:nvPr>
            <p:ph type="title"/>
          </p:nvPr>
        </p:nvSpPr>
        <p:spPr>
          <a:xfrm>
            <a:off x="74700" y="140075"/>
            <a:ext cx="8757600" cy="4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33221"/>
              <a:buNone/>
            </a:pPr>
            <a:r>
              <a:rPr lang="en" sz="2980"/>
              <a:t>Latent Manifold Model</a:t>
            </a:r>
            <a:endParaRPr sz="2980"/>
          </a:p>
        </p:txBody>
      </p:sp>
      <p:sp>
        <p:nvSpPr>
          <p:cNvPr id="113" name="Google Shape;113;p18"/>
          <p:cNvSpPr txBox="1"/>
          <p:nvPr>
            <p:ph idx="1" type="body"/>
          </p:nvPr>
        </p:nvSpPr>
        <p:spPr>
          <a:xfrm>
            <a:off x="74700" y="616475"/>
            <a:ext cx="9069300" cy="42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b="1" lang="en" sz="1050">
                <a:latin typeface="Arial"/>
                <a:ea typeface="Arial"/>
                <a:cs typeface="Arial"/>
                <a:sym typeface="Arial"/>
              </a:rPr>
              <a:t>Input Variables and Parameters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: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latin typeface="Arial"/>
                <a:ea typeface="Arial"/>
                <a:cs typeface="Arial"/>
                <a:sym typeface="Arial"/>
              </a:rPr>
              <a:t>    ◦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: Feature vector associated with the house.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latin typeface="Arial"/>
                <a:ea typeface="Arial"/>
                <a:cs typeface="Arial"/>
                <a:sym typeface="Arial"/>
              </a:rPr>
              <a:t>    ◦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: Actual log price.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latin typeface="Arial"/>
                <a:ea typeface="Arial"/>
                <a:cs typeface="Arial"/>
                <a:sym typeface="Arial"/>
              </a:rPr>
              <a:t>    ◦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: Parameters of the parametric model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t/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4761"/>
              <a:buFont typeface="Arial"/>
              <a:buNone/>
            </a:pPr>
            <a:r>
              <a:rPr lang="en" sz="1050"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en" sz="1050">
                <a:latin typeface="Arial"/>
                <a:ea typeface="Arial"/>
                <a:cs typeface="Arial"/>
                <a:sym typeface="Arial"/>
              </a:rPr>
              <a:t>Parametric Model (Intrinsic Price):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takes the features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and parameters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to produce the log of the intrinsic price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50">
                <a:latin typeface="Arial"/>
                <a:ea typeface="Arial"/>
                <a:cs typeface="Arial"/>
                <a:sym typeface="Arial"/>
              </a:rPr>
              <a:t>3 .</a:t>
            </a:r>
            <a:r>
              <a:rPr b="1" lang="en" sz="1050">
                <a:latin typeface="Arial"/>
                <a:ea typeface="Arial"/>
                <a:cs typeface="Arial"/>
                <a:sym typeface="Arial"/>
              </a:rPr>
              <a:t>Non-Parametric Model (Desirability Manifold):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takes the sample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and the desirability vector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to produce an estimate of the desirability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for location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50">
                <a:latin typeface="Arial"/>
                <a:ea typeface="Arial"/>
                <a:cs typeface="Arial"/>
                <a:sym typeface="Arial"/>
              </a:rPr>
              <a:t>4. Prediction Function J (Predicted Log Price p):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The outputs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are combined additively.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)=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)+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0" y="0"/>
            <a:ext cx="9104700" cy="50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Kernel Interpolation :  </a:t>
            </a: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h  =  H(D,X)  =  ∑j∈N(X)Ker(X,Xj)  djh=H(D,X)=j∈N(X)∑​Ker(X,Xj​)dj​</a:t>
            </a:r>
            <a:endParaRPr i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i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Kernel Function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                        		  </a:t>
            </a:r>
            <a:r>
              <a:rPr i="1" lang="en" sz="1217">
                <a:latin typeface="Times New Roman"/>
                <a:ea typeface="Times New Roman"/>
                <a:cs typeface="Times New Roman"/>
                <a:sym typeface="Times New Roman"/>
              </a:rPr>
              <a:t> Ker(X,Xj)  =  exp⁡ ⁣(−q ∥X−Xj∥2)∑k∈N(X)exp⁡ ⁣(−q ∥X−Xk∥2)Ker(X,Xj​)=∑k∈N(X)​exp(−q∥X−Xk​∥2)exp(−q∥X−Xj​∥2)​</a:t>
            </a:r>
            <a:endParaRPr i="1" sz="1217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Weighted Local Linear Regression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Find (β\*,α\*)(β\*,α\*) that minimize:</a:t>
            </a:r>
            <a:endParaRPr i="1" sz="1358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0997"/>
              <a:buFont typeface="Arial"/>
              <a:buNone/>
            </a:pPr>
            <a:r>
              <a:rPr i="1" lang="en" sz="1358"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i="1" lang="en" sz="1475">
                <a:latin typeface="Times New Roman"/>
                <a:ea typeface="Times New Roman"/>
                <a:cs typeface="Times New Roman"/>
                <a:sym typeface="Times New Roman"/>
              </a:rPr>
              <a:t> (β\*,α\*)  =  arg⁡min⁡β, α  ∑j∈N(X)(dj−(β+α⊤Xj))2  Ker(X,Xj)(β\*,α\*)=argβ,αmin​j∈N(X)∑​(dj​−(β+α⊤Xj​))2Ker(X,Xj​)</a:t>
            </a:r>
            <a:endParaRPr i="1" sz="14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Then the estimate is: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	</a:t>
            </a:r>
            <a:r>
              <a:rPr i="1" lang="en" sz="1358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</a:t>
            </a:r>
            <a:r>
              <a:rPr i="1" lang="en" sz="1475">
                <a:latin typeface="Times New Roman"/>
                <a:ea typeface="Times New Roman"/>
                <a:cs typeface="Times New Roman"/>
                <a:sym typeface="Times New Roman"/>
              </a:rPr>
              <a:t>h  =  H(D,X)  =  β\*+α\*⊤X</a:t>
            </a:r>
            <a:endParaRPr i="1" sz="14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Equivalent linear-combination form: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</a:t>
            </a:r>
            <a:r>
              <a:rPr lang="en" sz="1358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i="1" lang="en" sz="1358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i="1" lang="en" sz="1475">
                <a:latin typeface="Times New Roman"/>
                <a:ea typeface="Times New Roman"/>
                <a:cs typeface="Times New Roman"/>
                <a:sym typeface="Times New Roman"/>
              </a:rPr>
              <a:t> h  =  ∑j∈N(X)aj djh=j∈N(X)∑​aj​dj​</a:t>
            </a:r>
            <a:endParaRPr i="1" sz="14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Absolute Relative Forecasting Error (per sample)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45720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466">
                <a:latin typeface="Times New Roman"/>
                <a:ea typeface="Times New Roman"/>
                <a:cs typeface="Times New Roman"/>
                <a:sym typeface="Times New Roman"/>
              </a:rPr>
              <a:t>fe,i  =   ∣Ai−Pri∣  ∣Ai∣ fe,i​=∣Ai​∣∣Ai​−Pri​∣​</a:t>
            </a:r>
            <a:endParaRPr i="1" sz="146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29">
                <a:latin typeface="Arial"/>
                <a:ea typeface="Arial"/>
                <a:cs typeface="Arial"/>
                <a:sym typeface="Arial"/>
              </a:rPr>
              <a:t>where AiAi​ is the actual price and PriPri​ is the predicted price.</a:t>
            </a:r>
            <a:endParaRPr sz="1229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i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0" y="0"/>
            <a:ext cx="9144000" cy="49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Arial"/>
                <a:ea typeface="Arial"/>
                <a:cs typeface="Arial"/>
                <a:sym typeface="Arial"/>
              </a:rPr>
              <a:t>Energy Function E(W, D, Y, X):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The discrepancy between the actual log price 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) and the predicted log price 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) is measured by the energy function, defined as half of the square of the Euclidean distance.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)= 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−(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))/2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1100"/>
              </a:spcBef>
              <a:spcAft>
                <a:spcPts val="0"/>
              </a:spcAft>
              <a:buNone/>
            </a:pP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)= 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−(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)+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)))/2</a:t>
            </a:r>
            <a:endParaRPr sz="1250">
              <a:solidFill>
                <a:srgbClr val="C7C7C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50">
                <a:latin typeface="Arial"/>
                <a:ea typeface="Arial"/>
                <a:cs typeface="Arial"/>
                <a:sym typeface="Arial"/>
              </a:rPr>
              <a:t>Over all Loss Function</a:t>
            </a:r>
            <a:r>
              <a:rPr i="1" lang="en" sz="10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" sz="1250"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b="1"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=</a:t>
            </a:r>
            <a:r>
              <a:rPr i="1" lang="en" sz="9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=1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∑</a:t>
            </a:r>
            <a:r>
              <a:rPr i="1" lang="en" sz="900"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i="1" lang="en" sz="9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)+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latin typeface="Arial"/>
                <a:ea typeface="Arial"/>
                <a:cs typeface="Arial"/>
                <a:sym typeface="Arial"/>
              </a:rPr>
              <a:t>Regularizer R(D):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An L2 regularizer is used to prevent the desirabilities from varying wildly and enforce smoothness.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)=r/2 ∣∣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50">
                <a:latin typeface="Times New Roman"/>
                <a:ea typeface="Times New Roman"/>
                <a:cs typeface="Times New Roman"/>
                <a:sym typeface="Times New Roman"/>
              </a:rPr>
              <a:t>∣∣ , 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(where </a:t>
            </a:r>
            <a:r>
              <a:rPr i="1" lang="en" sz="12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1050">
                <a:latin typeface="Arial"/>
                <a:ea typeface="Arial"/>
                <a:cs typeface="Arial"/>
                <a:sym typeface="Arial"/>
              </a:rPr>
              <a:t> is the regularization coefficient)</a:t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Standard Phase-1 Loss L1(D)L1​(D) — Sparse QP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L1(D)  =  r2 ∥D∥2  +  12∑i=1n(Yi−(mi+D⊤Ui))2L1​(D)=2r​∥D∥2+21​i=1∑n​(Yi​−(mi​+D⊤Ui​))2</a:t>
            </a:r>
            <a:endParaRPr i="1" sz="10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S-LME Phase-1 Loss L1(D)L1​(D) — With Explicit Smoothing/Self-Consistency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100">
                <a:latin typeface="Times New Roman"/>
                <a:ea typeface="Times New Roman"/>
                <a:cs typeface="Times New Roman"/>
                <a:sym typeface="Times New Roman"/>
              </a:rPr>
              <a:t>L1(D)  =  r12 ∥D∥2  +  12∑i=1n(Yi−(mi+D⊤Ui))2  +  r22∑i=1n(di−D⊤Ui)2L1​(D)=2r1​​∥D∥2+21​i=1∑n​(Yi​−(mi​+D⊤Ui​))2+2r2​​i=1∑n​(di​−D⊤Ui​)2</a:t>
            </a:r>
            <a:endParaRPr i="1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7C7C7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102725" y="93375"/>
            <a:ext cx="8729700" cy="47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80"/>
              <a:t>ZIP/Month + Hedonic Model</a:t>
            </a:r>
            <a:endParaRPr sz="2980"/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56025" y="476250"/>
            <a:ext cx="9087900" cy="45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Target Variable (Forward Log-Deltas)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Short horizon (H1 ≈ 30d):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YH1=log⁡ ⁣(1+IDXt+1)−log⁡ ⁣(1+IDXt)YH1​=log(1+IDXt+1​)−log(1+IDXt​)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Medium horizon (H2 ≈ 60d):</a:t>
            </a:r>
            <a:br>
              <a:rPr b="1"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 sz="1100">
                <a:latin typeface="Arial"/>
                <a:ea typeface="Arial"/>
                <a:cs typeface="Arial"/>
                <a:sym typeface="Arial"/>
              </a:rPr>
              <a:t>		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YH2=log⁡ ⁣(1+IDXt+2)−log⁡ ⁣(1+IDXt)YH2​=log(1+IDXt+2​)−log(1+IDXt​)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473">
                <a:latin typeface="Arial"/>
                <a:ea typeface="Arial"/>
                <a:cs typeface="Arial"/>
                <a:sym typeface="Arial"/>
              </a:rPr>
              <a:t>Feature Pack A1–A3 (Momentum · Affordability · Liquidity)</a:t>
            </a:r>
            <a:endParaRPr b="1" sz="1473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A1. Momentum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Index momentum ( IDX_MOMkIDX_MOMk​, k∈{1,3,6}k∈{1,3,6} ):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IDX_MOMk=IDXtIDXt−k−1IDX_MOMk​=IDXt−k​IDXt​​−1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              Index volatility ( IDX_VOL3,6IDX_VOL3,6​ ):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rolling std of IDX over 3/6 months.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A2. Affordability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27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Affordability ratio ( AFFORD_RATIOAFFORD_RATIO ):</a:t>
            </a:r>
            <a:b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AFFORD_RATIO=MEDIAN_LISTING_PRICE__MEDIANINCOMEPERHOUSEHOLD__MEAN/12AFFORD_RATIO=INCOMEPERHOUSEHOLD__MEAN/12MEDIAN_LISTING_PRICE__MEDIAN​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Interactions: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AFFORD_RATIO×MORTGAGE_D12AFFORD_RATIO×MORTGAGE_D12, AFFORD_RATIO×MORTGAGE_D3AFFORD_RATIO×MORTGAGE_D3.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A3. Liquidity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8920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225">
                <a:latin typeface="Times New Roman"/>
                <a:ea typeface="Times New Roman"/>
                <a:cs typeface="Times New Roman"/>
                <a:sym typeface="Times New Roman"/>
              </a:rPr>
              <a:t>Log sales count:</a:t>
            </a:r>
            <a:br>
              <a:rPr b="1" lang="en" sz="1225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225">
                <a:latin typeface="Times New Roman"/>
                <a:ea typeface="Times New Roman"/>
                <a:cs typeface="Times New Roman"/>
                <a:sym typeface="Times New Roman"/>
              </a:rPr>
              <a:t>N_SOLD_LOG=log⁡(1+N_SOLD)N_SOLD_LOG=log(1+N_SOLD)</a:t>
            </a:r>
            <a:endParaRPr sz="12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b="1" lang="en" sz="1225">
                <a:latin typeface="Times New Roman"/>
                <a:ea typeface="Times New Roman"/>
                <a:cs typeface="Times New Roman"/>
                <a:sym typeface="Times New Roman"/>
              </a:rPr>
              <a:t>Deciles:</a:t>
            </a:r>
            <a:r>
              <a:rPr lang="en" sz="1225">
                <a:latin typeface="Times New Roman"/>
                <a:ea typeface="Times New Roman"/>
                <a:cs typeface="Times New Roman"/>
                <a:sym typeface="Times New Roman"/>
              </a:rPr>
              <a:t> liquidity deciles LIQ_DECLIQ_DEC.</a:t>
            </a:r>
            <a:endParaRPr sz="122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7C7C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0" y="0"/>
            <a:ext cx="9144000" cy="498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Correlation pruning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Drop one of any pair with ∣ρ∣&gt;τ∣ρ∣&gt;τ on train set.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Thresholds: τH1=0.98,  τH2=0.995τH1​=0.98,τH2​=0.995.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Protected: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key proxies (e.g., INCOMEPERHOUSEHOLD__MEAN,AVERAGEHOUSEVALUE__MEANINCOMEPERHOUSEHOLD__MEAN,AVERAGEHOUSEVALUE__MEAN, macro rates).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Target winsorization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YH1YH1​: winsorize by [STATE_MODE,YM][STATE_MODE,YM] at k=1.5k=1.5.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YH2YH2​: winsorize by [STATE_MODE,YM][STATE_MODE,YM] at k=3.0k=3.0.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Reliability weighting 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Applied to </a:t>
            </a: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H1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only (disabled for H2):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w=clip ⁣(log⁡(1+N_SOLD)2.5, 0.10, 1)w=clip(2.5log(1+N_SOLD)​,0.10,1)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Final prediction (blend)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Base learners: XGBoost (P^XGBP^XGB​) and LightGBM–Huber (P^LGBP^LGB​).</a:t>
            </a:r>
            <a:b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P^Blend=0.7 P^XGB+0.3 P^LGBP^Blend​=0.7P^XGB​+0.3P^LGB​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Price level reconstruction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Times New Roman"/>
              <a:buChar char="●"/>
            </a:pP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From predicted log-delta Y^HhY^Hh​ reconstruct future level IDX^t+hIDXt+h​ for evaluation (inverse of the target transform).</a:t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773700" y="1372725"/>
            <a:ext cx="7596600" cy="211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Hypothesis : National indicators and neighborhood signals impact the price just as equally as the core features of a house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0" y="0"/>
            <a:ext cx="6350100" cy="60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59300"/>
            <a:ext cx="8952376" cy="42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7C7C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0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214775" y="185400"/>
            <a:ext cx="8806500" cy="45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and end product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265025" y="971188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Our ZIP×month hedonic AVA is a better fit than LME for our data and goals—time-keyed panel features, monotone GBDTs + a hedonic head give higher holdout accuracy, more stability in sparse ZIPs, and cleaner production ops. LME-style local smoothing still has potential, and we’re actively tuning (quantile/Huber losses, spatial encodings, reliability weights, calibration), but today our stack outperforms LME. 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The end product is an end-to-end ML pipeline with a conversational UI: users ask in natural language (“3BR near top schools under $600k”), get transparent price drivers, comps and market “waterline,” and ranked home recommendations optimized for fit, affordability, and time-to-sell.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